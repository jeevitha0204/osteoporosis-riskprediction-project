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57" r:id="rId5"/>
    <p:sldId id="262" r:id="rId6"/>
    <p:sldId id="273" r:id="rId7"/>
    <p:sldId id="275" r:id="rId8"/>
    <p:sldId id="286" r:id="rId9"/>
    <p:sldId id="276" r:id="rId10"/>
    <p:sldId id="266" r:id="rId11"/>
    <p:sldId id="277" r:id="rId12"/>
    <p:sldId id="279" r:id="rId13"/>
    <p:sldId id="280" r:id="rId14"/>
    <p:sldId id="281" r:id="rId15"/>
    <p:sldId id="282" r:id="rId16"/>
    <p:sldId id="283" r:id="rId17"/>
    <p:sldId id="271" r:id="rId18"/>
    <p:sldId id="269" r:id="rId19"/>
    <p:sldId id="278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ED15E-D1C2-4DB6-9F5E-1435C4149E1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31A5C-393F-4CB8-88BA-1F8DC325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5420-4FCD-4041-835A-57D35C461016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1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3229-0BC7-4CBC-9463-D127090A023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2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D5B6-884B-4751-9C60-B0F64A9AF7B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12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7A22-B5B0-4222-9A0C-BBA022EBDC6E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6D4F-F5E8-4976-A387-78640074C893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3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F271F-29C1-40E8-B82A-E1AC81E760A3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6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6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C91F0A-77D2-4849-A24A-FAE04DFC1DEF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8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A671B-2F25-4829-922A-CA2AB50D86E6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4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9C93-D500-4B8F-9F1A-518896D5317D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1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4DDE-5729-4326-8D6A-F37C204EB90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62ACAC-0C42-49AA-9D54-A95EAF0D6BCB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B5906E-53B9-4208-BDDE-1EE512817A8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57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kaggle.com/datasets/sachinkumar413/Osteoporosis-knee-dataset-preprocessed128x256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www.kaggle.com/datasets/866059b7930a5c49cd77d94c1761840a19d88074cad74e8f0e0cfa2b236a690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amitvkulkarni/lifestyle-factors-influencing-osteoporosis" TargetMode="External"/><Relationship Id="rId5" Type="http://schemas.openxmlformats.org/officeDocument/2006/relationships/hyperlink" Target="https://www.kaggle.com/datasets/stevepython/Osteoporosis-knee-xray-dataset" TargetMode="External"/><Relationship Id="rId4" Type="http://schemas.openxmlformats.org/officeDocument/2006/relationships/hyperlink" Target="https://www.kaggle.com/datasets/mrmann007/Osteoporosi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jeevitha-app/Osteoporosis_risk_prediction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doi.org/10.1109/ACCESS.2023.333642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98-025-24338-4" TargetMode="External"/><Relationship Id="rId5" Type="http://schemas.openxmlformats.org/officeDocument/2006/relationships/hyperlink" Target="https://doi.org/10.1038/s41598-025-24338-4" TargetMode="External"/><Relationship Id="rId4" Type="http://schemas.openxmlformats.org/officeDocument/2006/relationships/hyperlink" Target="https://ieeexplore.ieee.org/document/10912021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hyperlink" Target=":%2010.1109/ICAICCIT64383.2024.10912266" TargetMode="External"/><Relationship Id="rId7" Type="http://schemas.openxmlformats.org/officeDocument/2006/relationships/hyperlink" Target="10.1007/s11042-022-13911-y" TargetMode="External"/><Relationship Id="rId2" Type="http://schemas.openxmlformats.org/officeDocument/2006/relationships/hyperlink" Target="10.1109/RESGENXAI64788.2025.11344050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10.1007/s44196-024-00615-4" TargetMode="External"/><Relationship Id="rId5" Type="http://schemas.openxmlformats.org/officeDocument/2006/relationships/hyperlink" Target="10.1109/ICCA62237.2024.10928051" TargetMode="External"/><Relationship Id="rId4" Type="http://schemas.openxmlformats.org/officeDocument/2006/relationships/hyperlink" Target="10.1109/CISCON66933.2025.11337458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8370" y="1874479"/>
            <a:ext cx="9895259" cy="231239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Explainable AI Framework for Osteoporosis Risk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Using Knee X-ray Imaging and Clinical Data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0429" y="4843691"/>
            <a:ext cx="3811571" cy="1143000"/>
          </a:xfrm>
        </p:spPr>
        <p:txBody>
          <a:bodyPr>
            <a:noAutofit/>
          </a:bodyPr>
          <a:lstStyle/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:     </a:t>
            </a:r>
            <a:r>
              <a:rPr lang="en-US" sz="1600" cap="none" spc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M.Jeevitha</a:t>
            </a:r>
            <a:endParaRPr lang="en-US" sz="1600" cap="none" spc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	:     126150018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	:     </a:t>
            </a:r>
            <a:r>
              <a:rPr lang="en-US" sz="1600" cap="none" spc="0" dirty="0" err="1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M.Sc</a:t>
            </a: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- II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		:     INT500R01 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		:     17/04/2026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r>
              <a:rPr lang="en-US" sz="1600" cap="none" spc="0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SASTRA Deemed University, Thanjavur.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endParaRPr lang="en-US" sz="1600" cap="none" spc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Tx/>
            </a:pPr>
            <a:endParaRPr lang="en-US" sz="1600" cap="none" spc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08581" y="4843691"/>
            <a:ext cx="3811571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: Dr. S. </a:t>
            </a:r>
            <a:r>
              <a:rPr lang="en-US" sz="1600" cap="none" spc="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Muruganandam</a:t>
            </a: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Assistant Professor (III), 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Department of Data Science,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SASTRA Deemed University,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sz="1600" cap="none" spc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Chennai.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 sz="1600" cap="none" spc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06416-E495-AA15-EECF-3E9ABA4A0E3C}"/>
              </a:ext>
            </a:extLst>
          </p:cNvPr>
          <p:cNvSpPr txBox="1"/>
          <p:nvPr/>
        </p:nvSpPr>
        <p:spPr>
          <a:xfrm>
            <a:off x="3996610" y="1032996"/>
            <a:ext cx="477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-  SECOND REVIEW </a:t>
            </a:r>
          </a:p>
        </p:txBody>
      </p:sp>
    </p:spTree>
    <p:extLst>
      <p:ext uri="{BB962C8B-B14F-4D97-AF65-F5344CB8AC3E}">
        <p14:creationId xmlns:p14="http://schemas.microsoft.com/office/powerpoint/2010/main" val="288587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299C-B0FB-42D6-95C1-E283FAFA8DD0}" type="datetime1">
              <a:rPr lang="en-US" smtClean="0"/>
              <a:t>4/17/2026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E43780-A9E1-DBF7-CB10-39DB287EEB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044" y="2363329"/>
            <a:ext cx="9685176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Osteoporosis and osteopenia are progressive bone disorders that often remain undiagnosed until a fracture occurs. In weight-bearing joints such as the knee, reduced bone mineral density significantly increases the risk of fractures, leading to pain, loss of mobility, and long-term disability.</a:t>
            </a:r>
          </a:p>
          <a:p>
            <a:r>
              <a:rPr lang="en-US" sz="1800" dirty="0"/>
              <a:t>Current diagnostic methods primarily rely on manual interpretation of knee X-ray images, which is time-consuming, subjective, and prone to inter-observer variability. Furthermore, early-stage changes in bone density are subtle and difficult to detect visually, resulting in missed or delayed diagnoses.</a:t>
            </a:r>
          </a:p>
          <a:p>
            <a:r>
              <a:rPr lang="en-US" sz="1800" dirty="0"/>
              <a:t>The lack of an efficient, accurate, and automated system for early detection of bone deterioration contributes to increased fracture risk, delayed clinical intervention, and a higher overall healthcare burden.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55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733" y="2023962"/>
            <a:ext cx="9848750" cy="419095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  <a:p>
            <a:pPr marL="292608" lvl="1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Patient Centric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Explainable AI Framework for Osteoporosis Risk Scoring Using Knee X-ray Imaging and Clinical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Binary and Multiclass Classification using Knee X-ray images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Transfer Learning to improve model performance  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clinical (CSV) data to assess patient health factors and perform prediction 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for clinical data-based prediction and risk scoring 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Bone Risk Score and Implement Explainable AI (Grad-CAM) for visual interpretation </a:t>
            </a:r>
          </a:p>
          <a:p>
            <a:pPr marL="578358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multi-modal system that support early detection and clinical decision-making </a:t>
            </a:r>
          </a:p>
          <a:p>
            <a:pPr marL="292608" lvl="1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6E6-DA35-4589-B4AB-B3AD44B59D5A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DB2F47-DB70-0E2C-9889-41B604815332}"/>
              </a:ext>
            </a:extLst>
          </p:cNvPr>
          <p:cNvSpPr txBox="1">
            <a:spLocks/>
          </p:cNvSpPr>
          <p:nvPr/>
        </p:nvSpPr>
        <p:spPr>
          <a:xfrm>
            <a:off x="2898088" y="1924706"/>
            <a:ext cx="9091749" cy="410287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64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PAPER DETAILS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293036"/>
              </p:ext>
            </p:extLst>
          </p:nvPr>
        </p:nvGraphicFramePr>
        <p:xfrm>
          <a:off x="1097280" y="1647008"/>
          <a:ext cx="10058400" cy="40330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7771">
                  <a:extLst>
                    <a:ext uri="{9D8B030D-6E8A-4147-A177-3AD203B41FA5}">
                      <a16:colId xmlns:a16="http://schemas.microsoft.com/office/drawing/2014/main" val="2861226098"/>
                    </a:ext>
                  </a:extLst>
                </a:gridCol>
                <a:gridCol w="7450629">
                  <a:extLst>
                    <a:ext uri="{9D8B030D-6E8A-4147-A177-3AD203B41FA5}">
                      <a16:colId xmlns:a16="http://schemas.microsoft.com/office/drawing/2014/main" val="1242954936"/>
                    </a:ext>
                  </a:extLst>
                </a:gridCol>
              </a:tblGrid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696281"/>
                  </a:ext>
                </a:extLst>
              </a:tr>
              <a:tr h="57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Deep‑learning based osteoporosis classification in knee X‑rays using transfer‑learning approach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action="ppaction://hlinksldjump"/>
                        </a:rPr>
                        <a:t>[4]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965472"/>
                  </a:ext>
                </a:extLst>
              </a:tr>
              <a:tr h="573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Muhammad Bilal Qureshi, Muhammad Sani, Ali Raza, Muhammad Shuaib Qureshi, Wajdi Alghamdi, Shahid Akbar, Rabiah Abdul Kadir &amp; Mahidur R. Sarker.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666669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61832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Nature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34263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/ Year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353428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Published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03 November 2025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236279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10.1038/s41598-025-24338-4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61748"/>
                  </a:ext>
                </a:extLst>
              </a:tr>
              <a:tr h="410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Factor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01299"/>
                  </a:ext>
                </a:extLst>
              </a:tr>
            </a:tbl>
          </a:graphicData>
        </a:graphic>
      </p:graphicFrame>
      <p:pic>
        <p:nvPicPr>
          <p:cNvPr id="9" name="Picture 8" descr="IGBMDT-2023 :: SASTR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5496-929D-40F7-A8B4-B7E52C4F3714}" type="datetime1">
              <a:rPr lang="en-US" smtClean="0"/>
              <a:t>4/17/2026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z="1200" smtClean="0"/>
              <a:t>4</a:t>
            </a:fld>
            <a:endParaRPr lang="en-US" sz="120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96963" y="1153870"/>
            <a:ext cx="9244241" cy="3770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9E11CA5-6FFF-7AF1-DC88-0E26740B9D64}"/>
              </a:ext>
            </a:extLst>
          </p:cNvPr>
          <p:cNvSpPr txBox="1"/>
          <p:nvPr/>
        </p:nvSpPr>
        <p:spPr>
          <a:xfrm>
            <a:off x="4534678" y="5943600"/>
            <a:ext cx="2183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Base paper details</a:t>
            </a:r>
          </a:p>
        </p:txBody>
      </p:sp>
    </p:spTree>
    <p:extLst>
      <p:ext uri="{BB962C8B-B14F-4D97-AF65-F5344CB8AC3E}">
        <p14:creationId xmlns:p14="http://schemas.microsoft.com/office/powerpoint/2010/main" val="349214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218" y="209497"/>
            <a:ext cx="8911687" cy="66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5" name="Picture 4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31DF-7276-439A-9DF7-A4E6440DEEFB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5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38218" y="857674"/>
            <a:ext cx="9371040" cy="95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2B9960E-7C34-21AA-9209-DF8B0F79D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659022"/>
              </p:ext>
            </p:extLst>
          </p:nvPr>
        </p:nvGraphicFramePr>
        <p:xfrm>
          <a:off x="689459" y="876859"/>
          <a:ext cx="10813081" cy="53573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5734">
                  <a:extLst>
                    <a:ext uri="{9D8B030D-6E8A-4147-A177-3AD203B41FA5}">
                      <a16:colId xmlns:a16="http://schemas.microsoft.com/office/drawing/2014/main" val="3210619942"/>
                    </a:ext>
                  </a:extLst>
                </a:gridCol>
                <a:gridCol w="3148626">
                  <a:extLst>
                    <a:ext uri="{9D8B030D-6E8A-4147-A177-3AD203B41FA5}">
                      <a16:colId xmlns:a16="http://schemas.microsoft.com/office/drawing/2014/main" val="1306630041"/>
                    </a:ext>
                  </a:extLst>
                </a:gridCol>
                <a:gridCol w="1525676">
                  <a:extLst>
                    <a:ext uri="{9D8B030D-6E8A-4147-A177-3AD203B41FA5}">
                      <a16:colId xmlns:a16="http://schemas.microsoft.com/office/drawing/2014/main" val="1499422409"/>
                    </a:ext>
                  </a:extLst>
                </a:gridCol>
                <a:gridCol w="1823448">
                  <a:extLst>
                    <a:ext uri="{9D8B030D-6E8A-4147-A177-3AD203B41FA5}">
                      <a16:colId xmlns:a16="http://schemas.microsoft.com/office/drawing/2014/main" val="2856203878"/>
                    </a:ext>
                  </a:extLst>
                </a:gridCol>
                <a:gridCol w="924713">
                  <a:extLst>
                    <a:ext uri="{9D8B030D-6E8A-4147-A177-3AD203B41FA5}">
                      <a16:colId xmlns:a16="http://schemas.microsoft.com/office/drawing/2014/main" val="2412872349"/>
                    </a:ext>
                  </a:extLst>
                </a:gridCol>
                <a:gridCol w="2934884">
                  <a:extLst>
                    <a:ext uri="{9D8B030D-6E8A-4147-A177-3AD203B41FA5}">
                      <a16:colId xmlns:a16="http://schemas.microsoft.com/office/drawing/2014/main" val="3104531907"/>
                    </a:ext>
                  </a:extLst>
                </a:gridCol>
              </a:tblGrid>
              <a:tr h="61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292112"/>
                  </a:ext>
                </a:extLst>
              </a:tr>
              <a:tr h="1066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Intensive Statistical Exploration to Identify Osteoporosis Predisposing Factors and Optimizing Recognition Performance with Integrated GP Kernels. 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[1]</a:t>
                      </a:r>
                      <a:endParaRPr lang="en-US" sz="14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Ruhul Amin,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Analysis + Gaussian Process Kernels +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clinical data, not X-ray images. Not suitable for automated screening. No image-based diagnosis.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430258"/>
                  </a:ext>
                </a:extLst>
              </a:tr>
              <a:tr h="1115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Attention-Driven Deep Learning Model for Osteoporosis Detection in Knees. 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[2]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Ishaq Muhammad &amp; Bumshik Lee,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DenseNet169 + Custom Attention Model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multi-class classification (only binary). Requires high computational resources. Lacks explainability techniques such as Grad-CAM.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665026"/>
                  </a:ext>
                </a:extLst>
              </a:tr>
              <a:tr h="79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of Osteoporosis in Knee X-ray using Transfer Learning and Random Forest. 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[3]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Wesam A. Hidar,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ResNet50, ResNet101, VGG16, VGG19 + 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accuracy. No end-to-end deep learning. Limited explainability. No risk score generation.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227723"/>
                  </a:ext>
                </a:extLst>
              </a:tr>
              <a:tr h="748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Deep-Learning Based Osteoporosis Detection Using Knee X-Ray Images (Scientific Reports). 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[4]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Qureshi,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 (Transfer Learning)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binary classification. No multi-class prediction. No explainable AI. Limited real-world testing.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727836"/>
                  </a:ext>
                </a:extLst>
              </a:tr>
              <a:tr h="910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diagnosis in knee X-rays by transfer learning based on convolution neural network. </a:t>
                      </a:r>
                      <a:r>
                        <a:rPr lang="en-US" sz="1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[11]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Qureshi, 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AlexNet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VGG16, VGG19, DenseNet121, U-Net,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datasets. Lack of interpretability. No integrated risk scoring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3063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9AFEE7-DA8B-C412-E178-F59CE1B804C4}"/>
              </a:ext>
            </a:extLst>
          </p:cNvPr>
          <p:cNvSpPr txBox="1"/>
          <p:nvPr/>
        </p:nvSpPr>
        <p:spPr>
          <a:xfrm>
            <a:off x="4728289" y="6151117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 : 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97177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38FE-08DC-1466-0F2C-B0C9AF1A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84" y="160739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0F8D8-2D6D-AF15-E7A7-BE9E7654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3229-0BC7-4CBC-9463-D127090A023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82CDF-4CA3-A673-4504-EE455B09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BE22B19-5917-B211-0910-69B146345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210620"/>
              </p:ext>
            </p:extLst>
          </p:nvPr>
        </p:nvGraphicFramePr>
        <p:xfrm>
          <a:off x="1149532" y="1640441"/>
          <a:ext cx="10220752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15768">
                  <a:extLst>
                    <a:ext uri="{9D8B030D-6E8A-4147-A177-3AD203B41FA5}">
                      <a16:colId xmlns:a16="http://schemas.microsoft.com/office/drawing/2014/main" val="3589994836"/>
                    </a:ext>
                  </a:extLst>
                </a:gridCol>
                <a:gridCol w="2545438">
                  <a:extLst>
                    <a:ext uri="{9D8B030D-6E8A-4147-A177-3AD203B41FA5}">
                      <a16:colId xmlns:a16="http://schemas.microsoft.com/office/drawing/2014/main" val="1551731625"/>
                    </a:ext>
                  </a:extLst>
                </a:gridCol>
                <a:gridCol w="3113659">
                  <a:extLst>
                    <a:ext uri="{9D8B030D-6E8A-4147-A177-3AD203B41FA5}">
                      <a16:colId xmlns:a16="http://schemas.microsoft.com/office/drawing/2014/main" val="2706795764"/>
                    </a:ext>
                  </a:extLst>
                </a:gridCol>
                <a:gridCol w="1245887">
                  <a:extLst>
                    <a:ext uri="{9D8B030D-6E8A-4147-A177-3AD203B41FA5}">
                      <a16:colId xmlns:a16="http://schemas.microsoft.com/office/drawing/2014/main" val="2635431695"/>
                    </a:ext>
                  </a:extLst>
                </a:gridCol>
              </a:tblGrid>
              <a:tr h="25824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No.of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163978"/>
                  </a:ext>
                </a:extLst>
              </a:tr>
              <a:tr h="619780">
                <a:tc>
                  <a:txBody>
                    <a:bodyPr/>
                    <a:lstStyle/>
                    <a:p>
                      <a:r>
                        <a:rPr lang="fi-FI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knee x-ray multiclasses dataset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Multiclass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-780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-793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Osteopenia-374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Kaggle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1671"/>
                  </a:ext>
                </a:extLst>
              </a:tr>
              <a:tr h="43901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Knee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-186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-186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Kaggle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293516"/>
                  </a:ext>
                </a:extLst>
              </a:tr>
              <a:tr h="61978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 dataset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-372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-372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Kaggle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612369"/>
                  </a:ext>
                </a:extLst>
              </a:tr>
              <a:tr h="61978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Knee X-ray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 dataset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-186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-186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Kaggle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149826"/>
                  </a:ext>
                </a:extLst>
              </a:tr>
              <a:tr h="43901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Osteoporosis (CSV)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Dataset(Binary)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 - 1959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Columns - 16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Kaggle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98588"/>
                  </a:ext>
                </a:extLst>
              </a:tr>
            </a:tbl>
          </a:graphicData>
        </a:graphic>
      </p:graphicFrame>
      <p:pic>
        <p:nvPicPr>
          <p:cNvPr id="3" name="Picture 2" descr="IGBMDT-2023 :: SASTRA">
            <a:extLst>
              <a:ext uri="{FF2B5EF4-FFF2-40B4-BE49-F238E27FC236}">
                <a16:creationId xmlns:a16="http://schemas.microsoft.com/office/drawing/2014/main" id="{E30C45F7-DBA7-009D-52C5-8425AD2E94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E6C07C-9EA3-9BC4-871D-25324D8B3D1D}"/>
              </a:ext>
            </a:extLst>
          </p:cNvPr>
          <p:cNvSpPr txBox="1"/>
          <p:nvPr/>
        </p:nvSpPr>
        <p:spPr>
          <a:xfrm>
            <a:off x="563570" y="482451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Clinical data: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2A179BE-5664-234B-261E-667639CE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409" y="4778346"/>
            <a:ext cx="4564264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 : Dataset description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1ECCEA-DC58-0482-7A15-EC71166DB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268955"/>
            <a:ext cx="10220752" cy="885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E8546D-641D-86C6-C834-D0EC00470708}"/>
              </a:ext>
            </a:extLst>
          </p:cNvPr>
          <p:cNvSpPr txBox="1"/>
          <p:nvPr/>
        </p:nvSpPr>
        <p:spPr>
          <a:xfrm>
            <a:off x="4637314" y="6154357"/>
            <a:ext cx="2575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 : Sample data</a:t>
            </a:r>
          </a:p>
        </p:txBody>
      </p:sp>
    </p:spTree>
    <p:extLst>
      <p:ext uri="{BB962C8B-B14F-4D97-AF65-F5344CB8AC3E}">
        <p14:creationId xmlns:p14="http://schemas.microsoft.com/office/powerpoint/2010/main" val="122065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9F398-2B69-4CA2-B608-895D5A2F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CC6356-18E8-AE6B-679B-B2D60ED4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01607-ACB4-1352-FD82-E7DD7085A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567874"/>
            <a:ext cx="1753229" cy="4477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0CD675-5841-2504-E19D-99E7E3A87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482" y="1553877"/>
            <a:ext cx="4061808" cy="4457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C3815-16C9-C10A-670B-621A26F87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872" y="1553877"/>
            <a:ext cx="2237392" cy="4457373"/>
          </a:xfrm>
          <a:prstGeom prst="rect">
            <a:avLst/>
          </a:prstGeom>
        </p:spPr>
      </p:pic>
      <p:pic>
        <p:nvPicPr>
          <p:cNvPr id="7" name="Picture 6" descr="IGBMDT-2023 :: SASTRA">
            <a:extLst>
              <a:ext uri="{FF2B5EF4-FFF2-40B4-BE49-F238E27FC236}">
                <a16:creationId xmlns:a16="http://schemas.microsoft.com/office/drawing/2014/main" id="{5F72892A-9BDD-4BA3-0D0C-A135DAA0E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1A5EE9-8F32-3506-AE0C-8BE06CAF3D76}"/>
              </a:ext>
            </a:extLst>
          </p:cNvPr>
          <p:cNvSpPr txBox="1"/>
          <p:nvPr/>
        </p:nvSpPr>
        <p:spPr>
          <a:xfrm>
            <a:off x="1419015" y="9687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Normal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80635-4A2B-2CE1-82F8-930F4E07D3B9}"/>
              </a:ext>
            </a:extLst>
          </p:cNvPr>
          <p:cNvSpPr txBox="1"/>
          <p:nvPr/>
        </p:nvSpPr>
        <p:spPr>
          <a:xfrm>
            <a:off x="5309118" y="968774"/>
            <a:ext cx="149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Osteopenia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89E08-F8C3-024C-054A-51D8A209CBFA}"/>
              </a:ext>
            </a:extLst>
          </p:cNvPr>
          <p:cNvSpPr txBox="1"/>
          <p:nvPr/>
        </p:nvSpPr>
        <p:spPr>
          <a:xfrm>
            <a:off x="9079872" y="968774"/>
            <a:ext cx="169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Osteoporosis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C28BA-1B18-8833-3C13-920CB9BA322D}"/>
              </a:ext>
            </a:extLst>
          </p:cNvPr>
          <p:cNvSpPr txBox="1"/>
          <p:nvPr/>
        </p:nvSpPr>
        <p:spPr>
          <a:xfrm>
            <a:off x="867747" y="554340"/>
            <a:ext cx="3191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385A54-47DC-34B1-C2AC-5910D45FABC0}"/>
              </a:ext>
            </a:extLst>
          </p:cNvPr>
          <p:cNvSpPr txBox="1"/>
          <p:nvPr/>
        </p:nvSpPr>
        <p:spPr>
          <a:xfrm>
            <a:off x="1419015" y="605774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: Normal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D5EC4-95B6-BCD3-32E1-FF4076026DCD}"/>
              </a:ext>
            </a:extLst>
          </p:cNvPr>
          <p:cNvSpPr txBox="1"/>
          <p:nvPr/>
        </p:nvSpPr>
        <p:spPr>
          <a:xfrm>
            <a:off x="4501041" y="6058710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Osteopenia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CDEF5-9369-5F69-898A-C764A4442610}"/>
              </a:ext>
            </a:extLst>
          </p:cNvPr>
          <p:cNvSpPr txBox="1"/>
          <p:nvPr/>
        </p:nvSpPr>
        <p:spPr>
          <a:xfrm>
            <a:off x="9286360" y="6011250"/>
            <a:ext cx="4061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 : Osteoporosis</a:t>
            </a:r>
          </a:p>
        </p:txBody>
      </p:sp>
    </p:spTree>
    <p:extLst>
      <p:ext uri="{BB962C8B-B14F-4D97-AF65-F5344CB8AC3E}">
        <p14:creationId xmlns:p14="http://schemas.microsoft.com/office/powerpoint/2010/main" val="3648378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CB351C-90B2-C826-B5C8-61FAFA2C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E5BC18-88DD-AD8A-CBDE-F0997A0E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A51B98-4A40-F057-F077-F87635756F15}"/>
              </a:ext>
            </a:extLst>
          </p:cNvPr>
          <p:cNvSpPr/>
          <p:nvPr/>
        </p:nvSpPr>
        <p:spPr>
          <a:xfrm>
            <a:off x="1698087" y="482629"/>
            <a:ext cx="2271071" cy="223934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Image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16DCDF-A7F5-87CA-A188-B5E7951F9969}"/>
              </a:ext>
            </a:extLst>
          </p:cNvPr>
          <p:cNvSpPr/>
          <p:nvPr/>
        </p:nvSpPr>
        <p:spPr>
          <a:xfrm>
            <a:off x="964163" y="786882"/>
            <a:ext cx="4208106" cy="3990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Kaggle datasets merged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385CC6-CE5F-106C-D0E3-FAC38649394F}"/>
              </a:ext>
            </a:extLst>
          </p:cNvPr>
          <p:cNvSpPr/>
          <p:nvPr/>
        </p:nvSpPr>
        <p:spPr>
          <a:xfrm>
            <a:off x="3241270" y="2709018"/>
            <a:ext cx="1859901" cy="22393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Multiclass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FDC6DF-77EF-0532-EECA-4F36EC87C0A9}"/>
              </a:ext>
            </a:extLst>
          </p:cNvPr>
          <p:cNvSpPr/>
          <p:nvPr/>
        </p:nvSpPr>
        <p:spPr>
          <a:xfrm>
            <a:off x="964163" y="2709018"/>
            <a:ext cx="1859901" cy="22393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3B9185-9301-4328-544F-F7FC77F1D025}"/>
              </a:ext>
            </a:extLst>
          </p:cNvPr>
          <p:cNvSpPr/>
          <p:nvPr/>
        </p:nvSpPr>
        <p:spPr>
          <a:xfrm>
            <a:off x="964163" y="1407207"/>
            <a:ext cx="4208106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Augmentation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 224 x 224, normalize, augment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63C3C3D-9550-0F2C-3C5B-0A9F1FB7A366}"/>
              </a:ext>
            </a:extLst>
          </p:cNvPr>
          <p:cNvSpPr/>
          <p:nvPr/>
        </p:nvSpPr>
        <p:spPr>
          <a:xfrm>
            <a:off x="964163" y="1964792"/>
            <a:ext cx="4208106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train, 15%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15% test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1895EFC-9911-BE79-939D-14E963D56440}"/>
              </a:ext>
            </a:extLst>
          </p:cNvPr>
          <p:cNvSpPr/>
          <p:nvPr/>
        </p:nvSpPr>
        <p:spPr>
          <a:xfrm>
            <a:off x="954461" y="3239844"/>
            <a:ext cx="4208106" cy="33805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models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ResNet50, MobileNetV2, DenseNet121, EfficientNetB0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3EC074E-4D3E-2319-CD33-EB1D06D8CC6F}"/>
              </a:ext>
            </a:extLst>
          </p:cNvPr>
          <p:cNvSpPr/>
          <p:nvPr/>
        </p:nvSpPr>
        <p:spPr>
          <a:xfrm>
            <a:off x="954461" y="3754982"/>
            <a:ext cx="4208106" cy="33805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Selection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Best: ResNet50 : 94%(Binary) , 83% (Multiclass)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6643356-F094-AB02-6341-8A13FAB728D4}"/>
              </a:ext>
            </a:extLst>
          </p:cNvPr>
          <p:cNvSpPr/>
          <p:nvPr/>
        </p:nvSpPr>
        <p:spPr>
          <a:xfrm>
            <a:off x="964163" y="4319224"/>
            <a:ext cx="4208106" cy="40552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Grad-CAM explainability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which region influence prediction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2F4CCBD-9545-950C-7A0D-8AC717DB5CCB}"/>
              </a:ext>
            </a:extLst>
          </p:cNvPr>
          <p:cNvSpPr/>
          <p:nvPr/>
        </p:nvSpPr>
        <p:spPr>
          <a:xfrm>
            <a:off x="964163" y="4909560"/>
            <a:ext cx="4208106" cy="3651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Image- based bone risk score 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probability: 0-100% risk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003CC1-609B-19DD-A5CE-1A26323901B5}"/>
              </a:ext>
            </a:extLst>
          </p:cNvPr>
          <p:cNvSpPr/>
          <p:nvPr/>
        </p:nvSpPr>
        <p:spPr>
          <a:xfrm>
            <a:off x="8222842" y="482629"/>
            <a:ext cx="2271071" cy="223934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Clinical data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8CFF092-AA93-CC65-71EF-6C004D600050}"/>
              </a:ext>
            </a:extLst>
          </p:cNvPr>
          <p:cNvSpPr/>
          <p:nvPr/>
        </p:nvSpPr>
        <p:spPr>
          <a:xfrm>
            <a:off x="7174463" y="786882"/>
            <a:ext cx="4208106" cy="3990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CSV dataset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1959 rows, 16 features, from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B60455D-D68B-4D30-0EC3-56C83424F26E}"/>
              </a:ext>
            </a:extLst>
          </p:cNvPr>
          <p:cNvSpPr/>
          <p:nvPr/>
        </p:nvSpPr>
        <p:spPr>
          <a:xfrm>
            <a:off x="7174463" y="1407206"/>
            <a:ext cx="4208106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Cleaning, Encoding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A3B5C80-F8FE-93B3-CB93-36C622DCAAF8}"/>
              </a:ext>
            </a:extLst>
          </p:cNvPr>
          <p:cNvSpPr/>
          <p:nvPr/>
        </p:nvSpPr>
        <p:spPr>
          <a:xfrm>
            <a:off x="7174463" y="1964792"/>
            <a:ext cx="4208106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 Test split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train, 20% test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EEB8D12-DB35-47F4-1CCE-2EBF7702B755}"/>
              </a:ext>
            </a:extLst>
          </p:cNvPr>
          <p:cNvSpPr/>
          <p:nvPr/>
        </p:nvSpPr>
        <p:spPr>
          <a:xfrm>
            <a:off x="7174463" y="3219957"/>
            <a:ext cx="4208106" cy="3778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models training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Decision Tree, Random Forest, GB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7A751F8-792F-05DE-049E-3A84B45357B0}"/>
              </a:ext>
            </a:extLst>
          </p:cNvPr>
          <p:cNvSpPr/>
          <p:nvPr/>
        </p:nvSpPr>
        <p:spPr>
          <a:xfrm>
            <a:off x="7174463" y="3754982"/>
            <a:ext cx="4208106" cy="33805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Selection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Best: Gradient Boosting – 91% accuracy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72FE2DC-12F5-EFD4-8400-0C45A236C6E0}"/>
              </a:ext>
            </a:extLst>
          </p:cNvPr>
          <p:cNvSpPr/>
          <p:nvPr/>
        </p:nvSpPr>
        <p:spPr>
          <a:xfrm>
            <a:off x="7174463" y="4250234"/>
            <a:ext cx="4208106" cy="40552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risk prediction 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– osteoporosis risk score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B622218-89E3-3CB6-6AD7-1E8C1D72268B}"/>
              </a:ext>
            </a:extLst>
          </p:cNvPr>
          <p:cNvSpPr/>
          <p:nvPr/>
        </p:nvSpPr>
        <p:spPr>
          <a:xfrm>
            <a:off x="7174463" y="4909560"/>
            <a:ext cx="4208106" cy="36512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bone risk score 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probability: 0-100% risk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03846F9-8FC5-7849-AFDC-A3A53E721F3A}"/>
              </a:ext>
            </a:extLst>
          </p:cNvPr>
          <p:cNvSpPr/>
          <p:nvPr/>
        </p:nvSpPr>
        <p:spPr>
          <a:xfrm>
            <a:off x="4400550" y="5783287"/>
            <a:ext cx="3764855" cy="572707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integration &amp;</a:t>
            </a:r>
            <a:b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based deployment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FC10DC3-A02D-170F-80FE-F517E1FA9732}"/>
              </a:ext>
            </a:extLst>
          </p:cNvPr>
          <p:cNvCxnSpPr>
            <a:stCxn id="7" idx="2"/>
            <a:endCxn id="36" idx="0"/>
          </p:cNvCxnSpPr>
          <p:nvPr/>
        </p:nvCxnSpPr>
        <p:spPr>
          <a:xfrm>
            <a:off x="3068216" y="1185931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DC0C5CA-DD84-1C4A-45A7-6DDBA3006162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3068216" y="1785032"/>
            <a:ext cx="0" cy="179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F3CE021-7769-8C21-E97A-67598CAC89FE}"/>
              </a:ext>
            </a:extLst>
          </p:cNvPr>
          <p:cNvCxnSpPr/>
          <p:nvPr/>
        </p:nvCxnSpPr>
        <p:spPr>
          <a:xfrm>
            <a:off x="3014210" y="3533706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E5ED72A-9BB7-01DD-121D-C1DA5918DBC9}"/>
              </a:ext>
            </a:extLst>
          </p:cNvPr>
          <p:cNvCxnSpPr/>
          <p:nvPr/>
        </p:nvCxnSpPr>
        <p:spPr>
          <a:xfrm>
            <a:off x="3014210" y="4093034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B05F914-7C62-1EE3-A912-3F7EDA21DA7C}"/>
              </a:ext>
            </a:extLst>
          </p:cNvPr>
          <p:cNvCxnSpPr>
            <a:cxnSpLocks/>
          </p:cNvCxnSpPr>
          <p:nvPr/>
        </p:nvCxnSpPr>
        <p:spPr>
          <a:xfrm>
            <a:off x="3014210" y="4724751"/>
            <a:ext cx="0" cy="1574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403E279-DCE0-4452-E2B2-004D1925581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047875" y="2342617"/>
            <a:ext cx="1020341" cy="2938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7352DEA-C65A-447B-AB32-2613E0ED37C3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3068216" y="2342617"/>
            <a:ext cx="1008484" cy="277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557F8DE-8EFE-FE7C-0D88-1533CFE524F4}"/>
              </a:ext>
            </a:extLst>
          </p:cNvPr>
          <p:cNvCxnSpPr/>
          <p:nvPr/>
        </p:nvCxnSpPr>
        <p:spPr>
          <a:xfrm>
            <a:off x="9364241" y="1185931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450EFBC-5BCE-1A1E-1B15-5BC31A0646C7}"/>
              </a:ext>
            </a:extLst>
          </p:cNvPr>
          <p:cNvCxnSpPr>
            <a:cxnSpLocks/>
          </p:cNvCxnSpPr>
          <p:nvPr/>
        </p:nvCxnSpPr>
        <p:spPr>
          <a:xfrm>
            <a:off x="9364241" y="1785031"/>
            <a:ext cx="0" cy="179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8E11B14-0ED3-9F61-4868-3A1FE1D954EA}"/>
              </a:ext>
            </a:extLst>
          </p:cNvPr>
          <p:cNvCxnSpPr/>
          <p:nvPr/>
        </p:nvCxnSpPr>
        <p:spPr>
          <a:xfrm>
            <a:off x="9364241" y="3577896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1CB59B2-3C79-E0BD-C8D3-071F73337907}"/>
              </a:ext>
            </a:extLst>
          </p:cNvPr>
          <p:cNvCxnSpPr>
            <a:cxnSpLocks/>
          </p:cNvCxnSpPr>
          <p:nvPr/>
        </p:nvCxnSpPr>
        <p:spPr>
          <a:xfrm>
            <a:off x="9364241" y="4093034"/>
            <a:ext cx="0" cy="1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DF7D9A2-43FC-0958-6884-D90AD1959566}"/>
              </a:ext>
            </a:extLst>
          </p:cNvPr>
          <p:cNvCxnSpPr/>
          <p:nvPr/>
        </p:nvCxnSpPr>
        <p:spPr>
          <a:xfrm>
            <a:off x="9365407" y="4660878"/>
            <a:ext cx="0" cy="221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7D3ED3-CE01-55B2-5656-D032E191553D}"/>
              </a:ext>
            </a:extLst>
          </p:cNvPr>
          <p:cNvCxnSpPr>
            <a:cxnSpLocks/>
          </p:cNvCxnSpPr>
          <p:nvPr/>
        </p:nvCxnSpPr>
        <p:spPr>
          <a:xfrm>
            <a:off x="9364241" y="2342617"/>
            <a:ext cx="0" cy="8937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53A8CFB-9C0B-E056-855F-2951B599759A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3068216" y="5274685"/>
            <a:ext cx="0" cy="240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D922772-FCC1-2D39-9DF1-D61287532314}"/>
              </a:ext>
            </a:extLst>
          </p:cNvPr>
          <p:cNvCxnSpPr>
            <a:cxnSpLocks/>
          </p:cNvCxnSpPr>
          <p:nvPr/>
        </p:nvCxnSpPr>
        <p:spPr>
          <a:xfrm>
            <a:off x="3068216" y="5514975"/>
            <a:ext cx="6296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31A128C-F491-605B-07C6-6CE0F81FC48A}"/>
              </a:ext>
            </a:extLst>
          </p:cNvPr>
          <p:cNvCxnSpPr>
            <a:cxnSpLocks/>
          </p:cNvCxnSpPr>
          <p:nvPr/>
        </p:nvCxnSpPr>
        <p:spPr>
          <a:xfrm>
            <a:off x="9364241" y="5274685"/>
            <a:ext cx="0" cy="240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033C048-04DE-5F25-A663-0469C212BDD7}"/>
              </a:ext>
            </a:extLst>
          </p:cNvPr>
          <p:cNvCxnSpPr>
            <a:cxnSpLocks/>
          </p:cNvCxnSpPr>
          <p:nvPr/>
        </p:nvCxnSpPr>
        <p:spPr>
          <a:xfrm>
            <a:off x="6354341" y="5514975"/>
            <a:ext cx="0" cy="240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771F2D6-6B87-A5A7-E1C5-51374379FC1E}"/>
              </a:ext>
            </a:extLst>
          </p:cNvPr>
          <p:cNvCxnSpPr>
            <a:cxnSpLocks/>
          </p:cNvCxnSpPr>
          <p:nvPr/>
        </p:nvCxnSpPr>
        <p:spPr>
          <a:xfrm>
            <a:off x="3018520" y="3143250"/>
            <a:ext cx="0" cy="76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C1E6FCA-F93F-ED46-C979-73B7FB3A3EDD}"/>
              </a:ext>
            </a:extLst>
          </p:cNvPr>
          <p:cNvCxnSpPr>
            <a:cxnSpLocks/>
          </p:cNvCxnSpPr>
          <p:nvPr/>
        </p:nvCxnSpPr>
        <p:spPr>
          <a:xfrm>
            <a:off x="1894113" y="3143250"/>
            <a:ext cx="2229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AEFFC1B-86D9-BAE4-19CB-773CF0C7802C}"/>
              </a:ext>
            </a:extLst>
          </p:cNvPr>
          <p:cNvCxnSpPr>
            <a:cxnSpLocks/>
          </p:cNvCxnSpPr>
          <p:nvPr/>
        </p:nvCxnSpPr>
        <p:spPr>
          <a:xfrm>
            <a:off x="1894113" y="2932952"/>
            <a:ext cx="0" cy="210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21002CDD-9642-0437-6B15-67FA7CAB481F}"/>
              </a:ext>
            </a:extLst>
          </p:cNvPr>
          <p:cNvCxnSpPr>
            <a:cxnSpLocks/>
          </p:cNvCxnSpPr>
          <p:nvPr/>
        </p:nvCxnSpPr>
        <p:spPr>
          <a:xfrm>
            <a:off x="4123872" y="2932952"/>
            <a:ext cx="0" cy="210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F4C7A28-8ECD-201D-241F-A42F04A1B162}"/>
              </a:ext>
            </a:extLst>
          </p:cNvPr>
          <p:cNvSpPr txBox="1"/>
          <p:nvPr/>
        </p:nvSpPr>
        <p:spPr>
          <a:xfrm>
            <a:off x="3969158" y="56906"/>
            <a:ext cx="5098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5" name="Picture 4" descr="IGBMDT-2023 :: SASTRA">
            <a:extLst>
              <a:ext uri="{FF2B5EF4-FFF2-40B4-BE49-F238E27FC236}">
                <a16:creationId xmlns:a16="http://schemas.microsoft.com/office/drawing/2014/main" id="{6F8910FF-4B34-9AC6-5E6B-13685073B0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10493913" y="1"/>
            <a:ext cx="1698086" cy="63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70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6A557-E817-3C54-EAAC-85DD7A9D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0EDCF7-A8DF-B842-4E07-29974FD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D8CB8-2734-A79E-F43D-E999B53D5628}"/>
              </a:ext>
            </a:extLst>
          </p:cNvPr>
          <p:cNvSpPr txBox="1"/>
          <p:nvPr/>
        </p:nvSpPr>
        <p:spPr>
          <a:xfrm>
            <a:off x="1066800" y="1035698"/>
            <a:ext cx="100584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four knee X-ray datasets and applied preprocessing (resizing, normalization, augmentation)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binary classification models using transfer learning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ResNet50, MobileNetV2, DenseNet121) and performed model evaluation (Accuracy, Precision, Recall, F1-Score, ROC-AUC) to select the best model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to multi-class classification (Normal, Osteopenia, Osteoporosis)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clinical (CSV) data and developed a machine learning model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personalized bone risk score for both clinical data and X-ray image data and applied Grad-CAM for explainable AI visualization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image and clinical models into a multi-modal system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as a web-based application.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GBMDT-2023 :: SASTRA">
            <a:extLst>
              <a:ext uri="{FF2B5EF4-FFF2-40B4-BE49-F238E27FC236}">
                <a16:creationId xmlns:a16="http://schemas.microsoft.com/office/drawing/2014/main" id="{0EE8DB9F-94AC-5A31-87CD-4C287F6D9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3309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1D7442-102C-6F8E-5045-318EF5F390E7}"/>
              </a:ext>
            </a:extLst>
          </p:cNvPr>
          <p:cNvSpPr txBox="1"/>
          <p:nvPr/>
        </p:nvSpPr>
        <p:spPr>
          <a:xfrm>
            <a:off x="1097280" y="559837"/>
            <a:ext cx="2112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</p:txBody>
      </p:sp>
    </p:spTree>
    <p:extLst>
      <p:ext uri="{BB962C8B-B14F-4D97-AF65-F5344CB8AC3E}">
        <p14:creationId xmlns:p14="http://schemas.microsoft.com/office/powerpoint/2010/main" val="20482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000" y="183817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261296"/>
              </p:ext>
            </p:extLst>
          </p:nvPr>
        </p:nvGraphicFramePr>
        <p:xfrm>
          <a:off x="1866631" y="2587923"/>
          <a:ext cx="8458738" cy="32340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3332">
                  <a:extLst>
                    <a:ext uri="{9D8B030D-6E8A-4147-A177-3AD203B41FA5}">
                      <a16:colId xmlns:a16="http://schemas.microsoft.com/office/drawing/2014/main" val="4198997289"/>
                    </a:ext>
                  </a:extLst>
                </a:gridCol>
                <a:gridCol w="1099110">
                  <a:extLst>
                    <a:ext uri="{9D8B030D-6E8A-4147-A177-3AD203B41FA5}">
                      <a16:colId xmlns:a16="http://schemas.microsoft.com/office/drawing/2014/main" val="3369492291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144432729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311135541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1164849985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323869271"/>
                    </a:ext>
                  </a:extLst>
                </a:gridCol>
              </a:tblGrid>
              <a:tr h="5179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 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03546"/>
                  </a:ext>
                </a:extLst>
              </a:tr>
              <a:tr h="739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EfficientNetB0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079430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29416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94415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86282"/>
                  </a:ext>
                </a:extLst>
              </a:tr>
            </a:tbl>
          </a:graphicData>
        </a:graphic>
      </p:graphicFrame>
      <p:pic>
        <p:nvPicPr>
          <p:cNvPr id="6" name="Picture 5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A6-F312-40C6-9889-1CD057302F88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FA0A1-745B-FB0E-3387-39B908529B4E}"/>
              </a:ext>
            </a:extLst>
          </p:cNvPr>
          <p:cNvSpPr txBox="1"/>
          <p:nvPr/>
        </p:nvSpPr>
        <p:spPr>
          <a:xfrm>
            <a:off x="1274390" y="1935913"/>
            <a:ext cx="267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755BE7-5CA1-A4C4-4D03-3595420DE89C}"/>
              </a:ext>
            </a:extLst>
          </p:cNvPr>
          <p:cNvSpPr txBox="1"/>
          <p:nvPr/>
        </p:nvSpPr>
        <p:spPr>
          <a:xfrm>
            <a:off x="4569668" y="5821988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 : Result for binary class</a:t>
            </a:r>
          </a:p>
        </p:txBody>
      </p:sp>
    </p:spTree>
    <p:extLst>
      <p:ext uri="{BB962C8B-B14F-4D97-AF65-F5344CB8AC3E}">
        <p14:creationId xmlns:p14="http://schemas.microsoft.com/office/powerpoint/2010/main" val="123504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2F25-9535-E09F-B857-E2B60AB8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9B439-D2F8-07CD-550F-7DDAB6C8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3229-0BC7-4CBC-9463-D127090A023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25E0F-695C-4692-2D05-25F7C6DE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F205372-F401-652A-9F5B-29750B549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885" y="2357073"/>
            <a:ext cx="3772513" cy="336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057906-C604-153A-18BC-BA4CF1429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3" t="2296"/>
          <a:stretch>
            <a:fillRect/>
          </a:stretch>
        </p:blipFill>
        <p:spPr>
          <a:xfrm>
            <a:off x="515531" y="2444914"/>
            <a:ext cx="7131354" cy="3278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7A8AB-176E-07ED-552F-7462BFC2A7B3}"/>
              </a:ext>
            </a:extLst>
          </p:cNvPr>
          <p:cNvSpPr txBox="1"/>
          <p:nvPr/>
        </p:nvSpPr>
        <p:spPr>
          <a:xfrm>
            <a:off x="3498978" y="5707855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0D73A-F7F8-6B18-E38D-4C034FC08BB5}"/>
              </a:ext>
            </a:extLst>
          </p:cNvPr>
          <p:cNvSpPr txBox="1"/>
          <p:nvPr/>
        </p:nvSpPr>
        <p:spPr>
          <a:xfrm>
            <a:off x="7564381" y="5805665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FFFCF-4436-AD79-8344-CD5B6C32B489}"/>
              </a:ext>
            </a:extLst>
          </p:cNvPr>
          <p:cNvSpPr txBox="1"/>
          <p:nvPr/>
        </p:nvSpPr>
        <p:spPr>
          <a:xfrm>
            <a:off x="1097280" y="1906471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935AE-E1A9-F152-0BCB-2F4AE764EC37}"/>
              </a:ext>
            </a:extLst>
          </p:cNvPr>
          <p:cNvSpPr txBox="1"/>
          <p:nvPr/>
        </p:nvSpPr>
        <p:spPr>
          <a:xfrm>
            <a:off x="3869871" y="6003597"/>
            <a:ext cx="4387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3131F-60EF-9DDF-32E6-5FD6137EAC82}"/>
              </a:ext>
            </a:extLst>
          </p:cNvPr>
          <p:cNvSpPr txBox="1"/>
          <p:nvPr/>
        </p:nvSpPr>
        <p:spPr>
          <a:xfrm>
            <a:off x="9748158" y="6095358"/>
            <a:ext cx="98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</a:t>
            </a:r>
          </a:p>
        </p:txBody>
      </p:sp>
      <p:pic>
        <p:nvPicPr>
          <p:cNvPr id="9" name="Picture 8" descr="IGBMDT-2023 :: SASTRA">
            <a:extLst>
              <a:ext uri="{FF2B5EF4-FFF2-40B4-BE49-F238E27FC236}">
                <a16:creationId xmlns:a16="http://schemas.microsoft.com/office/drawing/2014/main" id="{F3A62E9B-1FED-9C4B-9BE2-276DA446B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34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4B49-F8F1-6E2A-DD43-274666E4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95F9-FB48-F4AF-AADF-080C0D24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00" y="183817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7ECF3B-1A57-DEDC-07B3-F82BF1051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64465"/>
              </p:ext>
            </p:extLst>
          </p:nvPr>
        </p:nvGraphicFramePr>
        <p:xfrm>
          <a:off x="1866631" y="2587923"/>
          <a:ext cx="8458738" cy="32340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3332">
                  <a:extLst>
                    <a:ext uri="{9D8B030D-6E8A-4147-A177-3AD203B41FA5}">
                      <a16:colId xmlns:a16="http://schemas.microsoft.com/office/drawing/2014/main" val="4198997289"/>
                    </a:ext>
                  </a:extLst>
                </a:gridCol>
                <a:gridCol w="1099110">
                  <a:extLst>
                    <a:ext uri="{9D8B030D-6E8A-4147-A177-3AD203B41FA5}">
                      <a16:colId xmlns:a16="http://schemas.microsoft.com/office/drawing/2014/main" val="3369492291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144432729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311135541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1164849985"/>
                    </a:ext>
                  </a:extLst>
                </a:gridCol>
                <a:gridCol w="1336574">
                  <a:extLst>
                    <a:ext uri="{9D8B030D-6E8A-4147-A177-3AD203B41FA5}">
                      <a16:colId xmlns:a16="http://schemas.microsoft.com/office/drawing/2014/main" val="2323869271"/>
                    </a:ext>
                  </a:extLst>
                </a:gridCol>
              </a:tblGrid>
              <a:tr h="51790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 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03546"/>
                  </a:ext>
                </a:extLst>
              </a:tr>
              <a:tr h="739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EfficientNetB0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079430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29416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94415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86282"/>
                  </a:ext>
                </a:extLst>
              </a:tr>
            </a:tbl>
          </a:graphicData>
        </a:graphic>
      </p:graphicFrame>
      <p:pic>
        <p:nvPicPr>
          <p:cNvPr id="6" name="Picture 5" descr="IGBMDT-2023 :: SASTRA">
            <a:extLst>
              <a:ext uri="{FF2B5EF4-FFF2-40B4-BE49-F238E27FC236}">
                <a16:creationId xmlns:a16="http://schemas.microsoft.com/office/drawing/2014/main" id="{1FC6ACD2-24C7-45F2-7CCB-1DF68B66D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92CC4-5E6F-D78A-4AA4-25621278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A6-F312-40C6-9889-1CD057302F88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B118C-1089-76DF-2DB4-7462D696D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0F9AF-66D1-88C6-4AF6-790CDD799605}"/>
              </a:ext>
            </a:extLst>
          </p:cNvPr>
          <p:cNvSpPr txBox="1"/>
          <p:nvPr/>
        </p:nvSpPr>
        <p:spPr>
          <a:xfrm>
            <a:off x="1274390" y="1935913"/>
            <a:ext cx="267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classification: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AA698-D3A8-F6DB-270E-2B8AF3D84872}"/>
              </a:ext>
            </a:extLst>
          </p:cNvPr>
          <p:cNvSpPr txBox="1"/>
          <p:nvPr/>
        </p:nvSpPr>
        <p:spPr>
          <a:xfrm>
            <a:off x="4560337" y="5920000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5 : Results for multi class</a:t>
            </a:r>
          </a:p>
        </p:txBody>
      </p:sp>
    </p:spTree>
    <p:extLst>
      <p:ext uri="{BB962C8B-B14F-4D97-AF65-F5344CB8AC3E}">
        <p14:creationId xmlns:p14="http://schemas.microsoft.com/office/powerpoint/2010/main" val="241940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E5C2-5DDB-8329-622F-9234B279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8732-8CA5-D69D-43EC-FCCBA486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AA33D-E952-6D33-9D57-830A1C82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3229-0BC7-4CBC-9463-D127090A023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CFB7E-E330-36F8-A7FC-86BDDFCE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37A5D-F15E-A459-2CD9-1BC291D4A823}"/>
              </a:ext>
            </a:extLst>
          </p:cNvPr>
          <p:cNvSpPr txBox="1"/>
          <p:nvPr/>
        </p:nvSpPr>
        <p:spPr>
          <a:xfrm>
            <a:off x="3491587" y="5692196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B6FF0-FF5E-3418-39DD-F6A602472F29}"/>
              </a:ext>
            </a:extLst>
          </p:cNvPr>
          <p:cNvSpPr txBox="1"/>
          <p:nvPr/>
        </p:nvSpPr>
        <p:spPr>
          <a:xfrm>
            <a:off x="7560127" y="5761311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70ECE-67BE-5778-F503-E9CD0F8C0E5B}"/>
              </a:ext>
            </a:extLst>
          </p:cNvPr>
          <p:cNvSpPr txBox="1"/>
          <p:nvPr/>
        </p:nvSpPr>
        <p:spPr>
          <a:xfrm>
            <a:off x="1097280" y="1906471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class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6D992B-DD94-521A-0265-3BCAB52C7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5" t="2263"/>
          <a:stretch>
            <a:fillRect/>
          </a:stretch>
        </p:blipFill>
        <p:spPr>
          <a:xfrm>
            <a:off x="7792359" y="2330200"/>
            <a:ext cx="4300772" cy="338746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CD0CAB2-26C1-61F8-7FDA-21E7A8D4A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61" y="2330200"/>
            <a:ext cx="7316498" cy="333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A75AC6-17B6-F32D-C4D4-1D078223246E}"/>
              </a:ext>
            </a:extLst>
          </p:cNvPr>
          <p:cNvSpPr txBox="1"/>
          <p:nvPr/>
        </p:nvSpPr>
        <p:spPr>
          <a:xfrm>
            <a:off x="3802904" y="6034915"/>
            <a:ext cx="135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4E6FE-8271-2676-824A-88D6A05208FD}"/>
              </a:ext>
            </a:extLst>
          </p:cNvPr>
          <p:cNvSpPr txBox="1"/>
          <p:nvPr/>
        </p:nvSpPr>
        <p:spPr>
          <a:xfrm>
            <a:off x="9722837" y="6061528"/>
            <a:ext cx="2019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8</a:t>
            </a:r>
          </a:p>
        </p:txBody>
      </p:sp>
      <p:pic>
        <p:nvPicPr>
          <p:cNvPr id="7" name="Picture 6" descr="IGBMDT-2023 :: SASTRA">
            <a:extLst>
              <a:ext uri="{FF2B5EF4-FFF2-40B4-BE49-F238E27FC236}">
                <a16:creationId xmlns:a16="http://schemas.microsoft.com/office/drawing/2014/main" id="{C48B1BAD-342E-B5B3-8A5D-845BCF896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87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47C6-4924-B6A5-34D6-BB6C9C06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53C0-D4D2-A75F-041A-C835C45E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00" y="183817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6" name="Picture 5" descr="IGBMDT-2023 :: SASTRA">
            <a:extLst>
              <a:ext uri="{FF2B5EF4-FFF2-40B4-BE49-F238E27FC236}">
                <a16:creationId xmlns:a16="http://schemas.microsoft.com/office/drawing/2014/main" id="{656F01D5-B992-BBF3-ADC8-CB3DE20F0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EFE8E-9AD4-22BB-1EB8-886218D4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D4A6-F312-40C6-9889-1CD057302F88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E96BF-FE0B-F404-8287-0F371162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60B4C-4C9E-13E3-2E15-1DA2A4F0414C}"/>
              </a:ext>
            </a:extLst>
          </p:cNvPr>
          <p:cNvSpPr txBox="1"/>
          <p:nvPr/>
        </p:nvSpPr>
        <p:spPr>
          <a:xfrm>
            <a:off x="1274390" y="1935913"/>
            <a:ext cx="267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ECFA309E-5D42-403A-0375-4A172D085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007157"/>
              </p:ext>
            </p:extLst>
          </p:nvPr>
        </p:nvGraphicFramePr>
        <p:xfrm>
          <a:off x="245332" y="2355420"/>
          <a:ext cx="5547179" cy="37113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24357">
                  <a:extLst>
                    <a:ext uri="{9D8B030D-6E8A-4147-A177-3AD203B41FA5}">
                      <a16:colId xmlns:a16="http://schemas.microsoft.com/office/drawing/2014/main" val="4198997289"/>
                    </a:ext>
                  </a:extLst>
                </a:gridCol>
                <a:gridCol w="999804">
                  <a:extLst>
                    <a:ext uri="{9D8B030D-6E8A-4147-A177-3AD203B41FA5}">
                      <a16:colId xmlns:a16="http://schemas.microsoft.com/office/drawing/2014/main" val="3369492291"/>
                    </a:ext>
                  </a:extLst>
                </a:gridCol>
                <a:gridCol w="1041006">
                  <a:extLst>
                    <a:ext uri="{9D8B030D-6E8A-4147-A177-3AD203B41FA5}">
                      <a16:colId xmlns:a16="http://schemas.microsoft.com/office/drawing/2014/main" val="2144432729"/>
                    </a:ext>
                  </a:extLst>
                </a:gridCol>
                <a:gridCol w="1041006">
                  <a:extLst>
                    <a:ext uri="{9D8B030D-6E8A-4147-A177-3AD203B41FA5}">
                      <a16:colId xmlns:a16="http://schemas.microsoft.com/office/drawing/2014/main" val="2311135541"/>
                    </a:ext>
                  </a:extLst>
                </a:gridCol>
                <a:gridCol w="1041006">
                  <a:extLst>
                    <a:ext uri="{9D8B030D-6E8A-4147-A177-3AD203B41FA5}">
                      <a16:colId xmlns:a16="http://schemas.microsoft.com/office/drawing/2014/main" val="1164849985"/>
                    </a:ext>
                  </a:extLst>
                </a:gridCol>
              </a:tblGrid>
              <a:tr h="62689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  </a:t>
                      </a: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03546"/>
                  </a:ext>
                </a:extLst>
              </a:tr>
              <a:tr h="8955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079430"/>
                  </a:ext>
                </a:extLst>
              </a:tr>
              <a:tr h="58542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29416"/>
                  </a:ext>
                </a:extLst>
              </a:tr>
              <a:tr h="62689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494415"/>
                  </a:ext>
                </a:extLst>
              </a:tr>
              <a:tr h="89556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8628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742668FE-695C-8165-4828-F1DD5F5D6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002" y="2255572"/>
            <a:ext cx="5910422" cy="34983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F97D82-6C72-6CB6-06C8-A88355CEB4C7}"/>
              </a:ext>
            </a:extLst>
          </p:cNvPr>
          <p:cNvSpPr txBox="1"/>
          <p:nvPr/>
        </p:nvSpPr>
        <p:spPr>
          <a:xfrm>
            <a:off x="1820231" y="6068168"/>
            <a:ext cx="9528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6 : Results for clinical data				                fig 9 : Learning curve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80D80-4415-7E2C-0227-794A76F88649}"/>
              </a:ext>
            </a:extLst>
          </p:cNvPr>
          <p:cNvSpPr txBox="1"/>
          <p:nvPr/>
        </p:nvSpPr>
        <p:spPr>
          <a:xfrm>
            <a:off x="8274232" y="5753968"/>
            <a:ext cx="3172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 </a:t>
            </a:r>
          </a:p>
        </p:txBody>
      </p:sp>
    </p:spTree>
    <p:extLst>
      <p:ext uri="{BB962C8B-B14F-4D97-AF65-F5344CB8AC3E}">
        <p14:creationId xmlns:p14="http://schemas.microsoft.com/office/powerpoint/2010/main" val="1843037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D167A-5D4A-E820-2BFB-D3ECECA7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C97776-006C-3943-19A5-1D9FFADA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45161-65E9-5A14-322F-17A4FA60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0"/>
          <a:stretch>
            <a:fillRect/>
          </a:stretch>
        </p:blipFill>
        <p:spPr>
          <a:xfrm>
            <a:off x="307911" y="402422"/>
            <a:ext cx="11439330" cy="4127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8149D5-CF29-93BF-0854-AB58CC9A9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1" y="4707185"/>
            <a:ext cx="5564355" cy="1684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09BE5-F09E-B255-2AE3-B6D8D8B49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584" y="4707185"/>
            <a:ext cx="5747657" cy="1684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7C511A-9474-6911-B621-CCD770728C7F}"/>
              </a:ext>
            </a:extLst>
          </p:cNvPr>
          <p:cNvSpPr txBox="1"/>
          <p:nvPr/>
        </p:nvSpPr>
        <p:spPr>
          <a:xfrm>
            <a:off x="196535" y="-27728"/>
            <a:ext cx="6746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(CLINICAL DATA)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54A06-81DA-2748-F65D-C0E76E1689CA}"/>
              </a:ext>
            </a:extLst>
          </p:cNvPr>
          <p:cNvSpPr txBox="1"/>
          <p:nvPr/>
        </p:nvSpPr>
        <p:spPr>
          <a:xfrm>
            <a:off x="7354855" y="64605"/>
            <a:ext cx="3037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10 : Input : clinical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15EBA-960D-7D47-F0DF-7E6622FFA5C3}"/>
              </a:ext>
            </a:extLst>
          </p:cNvPr>
          <p:cNvSpPr txBox="1"/>
          <p:nvPr/>
        </p:nvSpPr>
        <p:spPr>
          <a:xfrm>
            <a:off x="1342054" y="4449069"/>
            <a:ext cx="5564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11 : Output prediction : Osteoporosis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A1A06-3B94-95E2-F072-EB7A8B885CE3}"/>
              </a:ext>
            </a:extLst>
          </p:cNvPr>
          <p:cNvSpPr txBox="1"/>
          <p:nvPr/>
        </p:nvSpPr>
        <p:spPr>
          <a:xfrm>
            <a:off x="7772400" y="4432112"/>
            <a:ext cx="3610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12 : Output prediction : Normal</a:t>
            </a:r>
          </a:p>
        </p:txBody>
      </p:sp>
      <p:pic>
        <p:nvPicPr>
          <p:cNvPr id="4" name="Picture 3" descr="IGBMDT-2023 :: SASTRA">
            <a:extLst>
              <a:ext uri="{FF2B5EF4-FFF2-40B4-BE49-F238E27FC236}">
                <a16:creationId xmlns:a16="http://schemas.microsoft.com/office/drawing/2014/main" id="{A22FB333-E373-740B-B573-13BF9DF94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11212483" y="0"/>
            <a:ext cx="979517" cy="36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40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50E0A-F219-501C-9EF8-53D8B3E5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BE9E7-0663-9401-2C2E-D07D4F24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3D230-559F-7D84-5A47-3C957B341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511720"/>
            <a:ext cx="5971593" cy="3199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1F3651-0583-B62E-6803-29FFC275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130"/>
            <a:ext cx="5971592" cy="3199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58A44F-7C37-823E-4E53-D417CAEAB0E4}"/>
              </a:ext>
            </a:extLst>
          </p:cNvPr>
          <p:cNvSpPr txBox="1"/>
          <p:nvPr/>
        </p:nvSpPr>
        <p:spPr>
          <a:xfrm>
            <a:off x="307911" y="33090"/>
            <a:ext cx="6802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(IMAGE DATA)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4CF6F3-1DA8-C108-F81F-9CAFB9723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991" y="3832724"/>
            <a:ext cx="6802016" cy="25926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D58844-488B-FFB2-B2D2-2D504D919068}"/>
              </a:ext>
            </a:extLst>
          </p:cNvPr>
          <p:cNvSpPr txBox="1"/>
          <p:nvPr/>
        </p:nvSpPr>
        <p:spPr>
          <a:xfrm>
            <a:off x="98904" y="3777872"/>
            <a:ext cx="2700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13: Input : Image data</a:t>
            </a:r>
          </a:p>
          <a:p>
            <a:r>
              <a:rPr lang="en-IN" sz="1600" dirty="0" err="1"/>
              <a:t>Ouput</a:t>
            </a:r>
            <a:r>
              <a:rPr lang="en-IN" sz="1600" dirty="0"/>
              <a:t> prediction :Normal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2B2B47-2D39-C4FB-5C21-CBB1B21ABCF0}"/>
              </a:ext>
            </a:extLst>
          </p:cNvPr>
          <p:cNvSpPr txBox="1"/>
          <p:nvPr/>
        </p:nvSpPr>
        <p:spPr>
          <a:xfrm>
            <a:off x="9497007" y="3751448"/>
            <a:ext cx="2828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14 : Output prediction : 	Osteoporosis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739A8-4403-4BD3-07EF-63784793C607}"/>
              </a:ext>
            </a:extLst>
          </p:cNvPr>
          <p:cNvSpPr txBox="1"/>
          <p:nvPr/>
        </p:nvSpPr>
        <p:spPr>
          <a:xfrm>
            <a:off x="9497007" y="5840601"/>
            <a:ext cx="2828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fig 15 : Output prediction : 	Osteopenia</a:t>
            </a:r>
          </a:p>
        </p:txBody>
      </p:sp>
      <p:pic>
        <p:nvPicPr>
          <p:cNvPr id="4" name="Picture 3" descr="IGBMDT-2023 :: SASTRA">
            <a:extLst>
              <a:ext uri="{FF2B5EF4-FFF2-40B4-BE49-F238E27FC236}">
                <a16:creationId xmlns:a16="http://schemas.microsoft.com/office/drawing/2014/main" id="{D25719D7-A5E8-23FE-9955-8D0C80368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10839450" y="0"/>
            <a:ext cx="1352550" cy="50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31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GBMDT-2023 :: SASTR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DB55-A59C-43C2-8847-923B341C6E66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2F5CCB-21F9-9D9A-C331-E0E9C1D309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3415" y="1856012"/>
            <a:ext cx="838178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Developed binary &amp; multi-class models for knee osteoporosis detection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Achieved high accuracy (94% binary, 83% multiclass) using transfer learning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Built a clinical (CSV) model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prediction and bone risk scoring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Applied Grad-CAM for explainable AI insights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Integrated into a multi-modal system and deployed as a web application (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Deploy 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BAB25-2255-0F6F-59CC-D102C1DC7FB3}"/>
              </a:ext>
            </a:extLst>
          </p:cNvPr>
          <p:cNvSpPr txBox="1"/>
          <p:nvPr/>
        </p:nvSpPr>
        <p:spPr>
          <a:xfrm>
            <a:off x="1371600" y="4165346"/>
            <a:ext cx="232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288B1-5F31-B283-336C-B9EFCDFC8888}"/>
              </a:ext>
            </a:extLst>
          </p:cNvPr>
          <p:cNvSpPr txBox="1"/>
          <p:nvPr/>
        </p:nvSpPr>
        <p:spPr>
          <a:xfrm>
            <a:off x="2333415" y="4136115"/>
            <a:ext cx="8879068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accuracy using larger and more diverse datasets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clinical validation and feedback from healthcare professionals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deployment into a scalable real-world clinical decision support system </a:t>
            </a:r>
          </a:p>
        </p:txBody>
      </p:sp>
    </p:spTree>
    <p:extLst>
      <p:ext uri="{BB962C8B-B14F-4D97-AF65-F5344CB8AC3E}">
        <p14:creationId xmlns:p14="http://schemas.microsoft.com/office/powerpoint/2010/main" val="2722610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411" y="512462"/>
            <a:ext cx="9982330" cy="128089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920" y="1972626"/>
            <a:ext cx="10976675" cy="4487159"/>
          </a:xfrm>
        </p:spPr>
        <p:txBody>
          <a:bodyPr>
            <a:noAutofit/>
          </a:bodyPr>
          <a:lstStyle/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Amin, M. S. Reza, M.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Maniruzzaman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M. Hasan, H.-S. Lee, S.-W. Jang, and J. Shin, “Intensive Statistical Exploration to Identify Osteoporosis Predisposing Factors and Optimizing Recognition Performance With Integrated GP Kernels,”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131339–131349, 2023.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https://doi.org/10.1109/ACCESS.2023.3336422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I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Muhammad and B. Lee, “A Hybrid Attention-Driven Deep Learning Model for Osteoporosis Detection in Knees,”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J.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Hyssian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S. Mubarak, H. M. Tawfik, L. R. David, and D. U.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Ozsahin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“Classification of Osteoporosis in Knee X-ray using Transfer Learning and Random Forest,”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Data Engineering and Systems Engineering (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https://ieeexplore.ieee.org/document/10912021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B. Qureshi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“Deep‑learning based osteoporosis classification in knee X‑rays using transfer‑learning approach,”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2025. Available: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https://doi.org/10.1038/s41598-025-24338-4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B. Qureshi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“Recent Advances in Osteoporosis Detection Using Machine Learning and Deep Learning Models,”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Available: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https://www.nature.com/articles/s41598-025-24338-4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GBMDT-2023 :: SASTR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B80C-77C2-409F-B75E-1BD9498EE67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3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82499-ED8C-2FFF-DA7B-D1394758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A94CC9-DC67-2E2A-F09C-24194432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73C41-A2C8-C195-680E-1C07EAF9E4CA}"/>
              </a:ext>
            </a:extLst>
          </p:cNvPr>
          <p:cNvSpPr txBox="1"/>
          <p:nvPr/>
        </p:nvSpPr>
        <p:spPr>
          <a:xfrm>
            <a:off x="718457" y="905069"/>
            <a:ext cx="111874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L. Mohanty, A. K. Pati, S. Saha, S. Gayen, A. Pati, and A. Panigrahi, “Enhanced Deep Learning for Multi-Class Osteoporosis Detection via Feature Fusion of Diverse Pre-Trained Models from Knee X-Ray Images,”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on Responsible, Generative and Explainable AI (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ResGenXAI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10.1109/RESGENXAI64788.2025.11344050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S., J. A., L. Krishnasamy, D. S., P. S., and D. S. R., “Leveraging Advanced Deep Learning Architectures for Precise Knee Osteoporosis Prediction: A Paradigm Shift in Diagnostic Healthcare,”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2nd Int. Conf. on Advances in Computation, Communication and Information Technology (ICAICCIT)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: 10.1109/ICAICCIT64383.2024.10912266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Manas, C. K. Kumar, A. K. Venkatesh, and O. S. Powar, “Machine Learning Based Osteoporosis Detection,”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Control Instrumentation System Conf. (CISCON)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10.1109/CISCON66933.2025.11337458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Sultana, M. Zaman, N. Ivković, K. Cengiz, I. Rafaqat, and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Akhunzada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“Efficient Detection of Knee Osteoporosis Using the Swin Transformer on X-Ray Images,”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Int. Conf. on Computer and Applications (ICCA)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10.1109/ICCA62237.2024.10928051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M. Sarhan et al., “Knee Osteoporosis Diagnosis Based on Deep Learning,”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Computational Intelligence Systems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241, 2024.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file"/>
              </a:rPr>
              <a:t>10.1007/s44196-024-00615-4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Wani and S. Arora, “Osteoporosis diagnosis in knee X-rays by transfer learning based on convolution neural network,”     Multimedia Tools and Applications, vol. 82, pp. 14193–14217, 2023.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file"/>
              </a:rPr>
              <a:t>10.1007/s11042-022-13911-y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6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GBMDT-2023 :: SASTRA">
            <a:extLst>
              <a:ext uri="{FF2B5EF4-FFF2-40B4-BE49-F238E27FC236}">
                <a16:creationId xmlns:a16="http://schemas.microsoft.com/office/drawing/2014/main" id="{DC1C5343-110E-ED5C-E00C-8D7CFE021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" t="21068" r="-404" b="24332"/>
          <a:stretch/>
        </p:blipFill>
        <p:spPr bwMode="auto">
          <a:xfrm>
            <a:off x="9860437" y="0"/>
            <a:ext cx="2331563" cy="86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813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1BE85-1578-4819-9F0F-285B83A8CF6E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5906E-53B9-4208-BDDE-1EE512817A83}" type="slidenum">
              <a:rPr lang="en-US" smtClean="0"/>
              <a:t>20</a:t>
            </a:fld>
            <a:endParaRPr lang="en-US"/>
          </a:p>
        </p:txBody>
      </p:sp>
      <p:pic>
        <p:nvPicPr>
          <p:cNvPr id="2050" name="Picture 2" descr="Thank You Images – Browse 2,120,870 Stock Photos, Vectors, and Video | 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2879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3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FFFF"/>
      </a:accent1>
      <a:accent2>
        <a:srgbClr val="7EA9CA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7940</TotalTime>
  <Words>2054</Words>
  <Application>Microsoft Office PowerPoint</Application>
  <PresentationFormat>Widescreen</PresentationFormat>
  <Paragraphs>345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Retrospect</vt:lpstr>
      <vt:lpstr>Multi-Modal Explainable AI Framework for Osteoporosis Risk  Scoring Using Knee X-ray Imaging and Clinical Data  </vt:lpstr>
      <vt:lpstr>PROBLEM STATEMENT</vt:lpstr>
      <vt:lpstr>OBJECTIVES</vt:lpstr>
      <vt:lpstr> BASE PAPER DETAILS </vt:lpstr>
      <vt:lpstr>LITERATURE REVIEW</vt:lpstr>
      <vt:lpstr>DATASET DESCRIPTION</vt:lpstr>
      <vt:lpstr>PowerPoint Presentation</vt:lpstr>
      <vt:lpstr>PowerPoint Presentation</vt:lpstr>
      <vt:lpstr>PowerPoint Presentation</vt:lpstr>
      <vt:lpstr>RESULTS</vt:lpstr>
      <vt:lpstr>CURVES</vt:lpstr>
      <vt:lpstr>RESULTS</vt:lpstr>
      <vt:lpstr>CURVES</vt:lpstr>
      <vt:lpstr>RESULTS</vt:lpstr>
      <vt:lpstr>PowerPoint Presentation</vt:lpstr>
      <vt:lpstr>PowerPoint Presentation</vt:lpstr>
      <vt:lpstr>CONCLUSION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Interpretable Machine Learning for Accurate Sentiment Analysis of Persian Instagram Comments</dc:title>
  <dc:creator>ux305</dc:creator>
  <cp:lastModifiedBy>jeevitha M</cp:lastModifiedBy>
  <cp:revision>47</cp:revision>
  <dcterms:created xsi:type="dcterms:W3CDTF">2025-09-19T14:35:28Z</dcterms:created>
  <dcterms:modified xsi:type="dcterms:W3CDTF">2026-04-17T06:36:11Z</dcterms:modified>
</cp:coreProperties>
</file>